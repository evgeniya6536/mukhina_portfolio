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89" r:id="rId5"/>
    <p:sldId id="288" r:id="rId6"/>
    <p:sldId id="276" r:id="rId7"/>
    <p:sldId id="283" r:id="rId8"/>
    <p:sldId id="261" r:id="rId9"/>
    <p:sldId id="257" r:id="rId10"/>
    <p:sldId id="290" r:id="rId11"/>
    <p:sldId id="264" r:id="rId12"/>
    <p:sldId id="262" r:id="rId13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58" autoAdjust="0"/>
    <p:restoredTop sz="94694" autoAdjust="0"/>
  </p:normalViewPr>
  <p:slideViewPr>
    <p:cSldViewPr snapToGrid="0">
      <p:cViewPr varScale="1">
        <p:scale>
          <a:sx n="77" d="100"/>
          <a:sy n="77" d="100"/>
        </p:scale>
        <p:origin x="1109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80" d="100"/>
          <a:sy n="80" d="100"/>
        </p:scale>
        <p:origin x="3984" y="1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EB88A17-8FFD-47C7-BBEB-680E6FB8FC56}" type="datetime1">
              <a:rPr lang="ru-RU" smtClean="0"/>
              <a:t>28.05.2026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A08324-DD3D-4F0C-A110-C69C3C48FBD3}" type="datetime1">
              <a:rPr lang="ru-RU" smtClean="0"/>
              <a:pPr/>
              <a:t>28.05.2026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C5DA344-5FA2-43F7-9D95-CA56C82B080A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C5DA344-5FA2-43F7-9D95-CA56C82B080A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C5DA344-5FA2-43F7-9D95-CA56C82B080A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C5DA344-5FA2-43F7-9D95-CA56C82B080A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C5DA344-5FA2-43F7-9D95-CA56C82B080A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C5DA344-5FA2-43F7-9D95-CA56C82B080A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C5DA344-5FA2-43F7-9D95-CA56C82B080A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4047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C5DA344-5FA2-43F7-9D95-CA56C82B080A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C5DA344-5FA2-43F7-9D95-CA56C82B080A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rtlCol="0"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 rtlCol="0">
            <a:normAutofit/>
          </a:bodyPr>
          <a:lstStyle>
            <a:lvl1pPr marL="0" indent="0" algn="r">
              <a:buNone/>
              <a:defRPr sz="2000"/>
            </a:lvl1pPr>
          </a:lstStyle>
          <a:p>
            <a:pPr rtl="0"/>
            <a:r>
              <a:rPr lang="ru-RU" noProof="0" dirty="0"/>
              <a:t>Щелкните значок, чтобы добавить фото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 rtlCol="0">
            <a:noAutofit/>
          </a:bodyPr>
          <a:lstStyle/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rtlCol="0"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ru-RU" noProof="0" dirty="0"/>
              <a:t>Щелкните значок, чтобы добавить фото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3D3A09-8B2A-4EA5-ABC6-B2E051E1EA02}" type="datetime1">
              <a:rPr lang="ru-RU" noProof="0" smtClean="0"/>
              <a:t>28.05.2026</a:t>
            </a:fld>
            <a:endParaRPr lang="ru-RU" noProof="0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rtlCol="0" anchor="b">
            <a:noAutofit/>
          </a:bodyPr>
          <a:lstStyle>
            <a:lvl1pPr algn="ctr">
              <a:defRPr sz="4400"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620" y="4766434"/>
            <a:ext cx="12207240" cy="2121408"/>
          </a:xfrm>
        </p:spPr>
        <p:txBody>
          <a:bodyPr rtlCol="0">
            <a:no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ru-RU" noProof="0" dirty="0"/>
              <a:t>Щелкните значок, чтобы добавить фото</a:t>
            </a:r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подзаголовок +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rtlCol="0" anchor="b">
            <a:noAutofit/>
          </a:bodyPr>
          <a:lstStyle>
            <a:lvl1pPr algn="l">
              <a:defRPr sz="4400"/>
            </a:lvl1pPr>
          </a:lstStyle>
          <a:p>
            <a:pPr rtl="0"/>
            <a:endParaRPr lang="ru-RU" noProof="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dirty="0"/>
              <a:t>Подзаголовок слайда</a:t>
            </a:r>
          </a:p>
        </p:txBody>
      </p:sp>
      <p:sp>
        <p:nvSpPr>
          <p:cNvPr id="7" name="Рисунок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 rtlCol="0">
            <a:normAutofit/>
          </a:bodyPr>
          <a:lstStyle>
            <a:lvl1pPr marL="0" indent="0" algn="r">
              <a:buNone/>
              <a:defRPr sz="2000"/>
            </a:lvl1pPr>
          </a:lstStyle>
          <a:p>
            <a:pPr rtl="0"/>
            <a:r>
              <a:rPr lang="ru-RU" noProof="0" dirty="0"/>
              <a:t>Щелкните значок, чтобы добавить фото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rtlCol="0" anchor="b" anchorCtr="0">
            <a:noAutofit/>
          </a:bodyPr>
          <a:lstStyle>
            <a:lvl1pPr>
              <a:defRPr sz="3600"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ru-RU" noProof="0" dirty="0"/>
              <a:t>Щелкните значок, чтобы добавить фото</a:t>
            </a:r>
          </a:p>
        </p:txBody>
      </p:sp>
      <p:sp>
        <p:nvSpPr>
          <p:cNvPr id="11" name="Объект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 rtlCol="0"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10">
            <a:extLst>
              <a:ext uri="{FF2B5EF4-FFF2-40B4-BE49-F238E27FC236}">
                <a16:creationId xmlns:a16="http://schemas.microsoft.com/office/drawing/2014/main" id="{C4293765-78A6-5206-26C2-E8817B283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470792" cy="6858000"/>
          </a:xfrm>
          <a:custGeom>
            <a:avLst/>
            <a:gdLst>
              <a:gd name="connsiteX0" fmla="*/ 0 w 7470792"/>
              <a:gd name="connsiteY0" fmla="*/ 0 h 6858000"/>
              <a:gd name="connsiteX1" fmla="*/ 7470792 w 7470792"/>
              <a:gd name="connsiteY1" fmla="*/ 0 h 6858000"/>
              <a:gd name="connsiteX2" fmla="*/ 5633197 w 7470792"/>
              <a:gd name="connsiteY2" fmla="*/ 6858000 h 6858000"/>
              <a:gd name="connsiteX3" fmla="*/ 0 w 74707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792" h="6858000">
                <a:moveTo>
                  <a:pt x="0" y="0"/>
                </a:moveTo>
                <a:lnTo>
                  <a:pt x="7470792" y="0"/>
                </a:lnTo>
                <a:lnTo>
                  <a:pt x="56331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 dirty="0">
              <a:ln>
                <a:noFill/>
              </a:ln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B4E351F-7451-86A3-5271-0D00B9EFA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CA860223-A40E-30ED-6832-0825A930B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00B6907E-F17B-783E-D454-DFC62D09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26B12211-7E94-9534-6F2D-2AFD2EBE3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36580245-E985-EC3F-9385-D0F517F0C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B75A82A3-E3DF-978F-4BD7-10E0F1075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EDC40AE-D1CB-7535-22E2-E6D910FB8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685800"/>
            <a:ext cx="9144000" cy="3136738"/>
          </a:xfrm>
        </p:spPr>
        <p:txBody>
          <a:bodyPr rtlCol="0" anchor="b">
            <a:noAutofit/>
          </a:bodyPr>
          <a:lstStyle>
            <a:lvl1pPr algn="ctr">
              <a:defRPr sz="4400"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78800"/>
            <a:ext cx="9144000" cy="196596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dirty="0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содержимого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b" anchorCtr="0">
            <a:noAutofit/>
          </a:bodyPr>
          <a:lstStyle>
            <a:lvl1pPr>
              <a:defRPr sz="3600"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17" name="Объект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15" name="Объект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D972B9-D29C-4410-9572-A3CF43EFF749}" type="datetime1">
              <a:rPr lang="ru-RU" noProof="0" smtClean="0"/>
              <a:t>28.05.2026</a:t>
            </a:fld>
            <a:endParaRPr lang="ru-RU" noProof="0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объекта содержимого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FDD9208B-0FD2-A7E3-5202-0F18392AE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004010E2-9C6F-C582-1E3A-F5D43D0FF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3D2B8AF-94DE-C211-EAE7-0971C111B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247A2AC-F284-077E-9A14-EB7D1DE62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0E91F1F-5151-2442-2B89-CE0AB1178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3FBD82AC-3C5B-819E-E0FF-157D74B8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7F299648-2E6E-FA0D-85E4-8884BE34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b" anchorCtr="0">
            <a:noAutofit/>
          </a:bodyPr>
          <a:lstStyle>
            <a:lvl1pPr>
              <a:defRPr sz="3600"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17" name="Объект 3">
            <a:extLst>
              <a:ext uri="{FF2B5EF4-FFF2-40B4-BE49-F238E27FC236}">
                <a16:creationId xmlns:a16="http://schemas.microsoft.com/office/drawing/2014/main" id="{07BD0263-5D42-E696-F170-1F9CF5FF2A7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38199" y="2078963"/>
            <a:ext cx="3435628" cy="4067492"/>
          </a:xfrm>
        </p:spPr>
        <p:txBody>
          <a:bodyPr rtlCol="0">
            <a:normAutofit/>
          </a:bodyPr>
          <a:lstStyle>
            <a:lvl1pPr marL="4572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sz="1800"/>
            </a:lvl1pPr>
            <a:lvl2pPr marL="9144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eriod"/>
              <a:defRPr sz="1800"/>
            </a:lvl2pPr>
            <a:lvl3pPr marL="13716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arenR"/>
              <a:defRPr sz="1800"/>
            </a:lvl3pPr>
            <a:lvl4pPr marL="18288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arenR"/>
              <a:defRPr sz="1800"/>
            </a:lvl4pPr>
            <a:lvl5pPr marL="2228850" indent="-457200">
              <a:spcBef>
                <a:spcPts val="1000"/>
              </a:spcBef>
              <a:spcAft>
                <a:spcPts val="500"/>
              </a:spcAft>
              <a:buFont typeface="+mj-lt"/>
              <a:buAutoNum type="romanLcPeriod"/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16" name="Объект 3">
            <a:extLst>
              <a:ext uri="{FF2B5EF4-FFF2-40B4-BE49-F238E27FC236}">
                <a16:creationId xmlns:a16="http://schemas.microsoft.com/office/drawing/2014/main" id="{1BEE7174-135F-6F9F-11B9-3C3F2F9CDEA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65539" y="2087315"/>
            <a:ext cx="6007261" cy="406749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E0F14A-E99F-4269-9F1E-1866BA5B80FE}" type="datetime1">
              <a:rPr lang="ru-RU" noProof="0" smtClean="0"/>
              <a:t>28.05.2026</a:t>
            </a:fld>
            <a:endParaRPr lang="ru-RU" noProof="0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+ рисунок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rtlCol="0" anchor="b" anchorCtr="0">
            <a:noAutofit/>
          </a:bodyPr>
          <a:lstStyle>
            <a:lvl1pPr>
              <a:defRPr sz="3600"/>
            </a:lvl1pPr>
          </a:lstStyle>
          <a:p>
            <a:pPr rtl="0"/>
            <a:endParaRPr lang="ru-RU" noProof="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66991" y="-22860"/>
            <a:ext cx="4625008" cy="6903720"/>
          </a:xfrm>
        </p:spPr>
        <p:txBody>
          <a:bodyPr tIns="274320"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ru-RU" noProof="0" dirty="0"/>
              <a:t>Щелкните значок, чтобы добавить фото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7690398-C035-4147-AA8E-E91FCBDCC4C1}" type="datetime1">
              <a:rPr lang="ru-RU" noProof="0" smtClean="0"/>
              <a:t>28.05.2026</a:t>
            </a:fld>
            <a:endParaRPr lang="ru-RU" noProof="0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+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C45A11E-9896-BD8B-8CC6-A79C124D8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B386022B-53D6-6CE0-2093-873FC64A5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0BD4BD8F-684C-A145-3376-9E69B0E5B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6E7C1DA9-2A25-EE21-085B-8857DC1AD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F236BB3-E567-A8A9-5EC2-BCEF79CFC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D4A87C9F-C765-C63C-951E-70721DDAC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74425665-0C9C-3899-9DB9-ED05D91E2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330405" cy="1325563"/>
          </a:xfrm>
        </p:spPr>
        <p:txBody>
          <a:bodyPr rtlCol="0" anchor="b" anchorCtr="0">
            <a:noAutofit/>
          </a:bodyPr>
          <a:lstStyle>
            <a:lvl1pPr>
              <a:defRPr sz="3600"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137059"/>
            <a:ext cx="2816352" cy="3986246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8" name="Местозаполнитель таблицы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4109014" y="2137059"/>
            <a:ext cx="7059592" cy="398624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dirty="0"/>
            </a:lvl1pPr>
          </a:lstStyle>
          <a:p>
            <a:pPr rtl="0"/>
            <a:r>
              <a:rPr lang="ru-RU" noProof="0" dirty="0"/>
              <a:t>Щелкните значок, чтобы добавить таблицу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74ADA34-82FD-4BF1-AEA8-F535C18F9BCC}" type="datetime1">
              <a:rPr lang="ru-RU" noProof="0" smtClean="0"/>
              <a:t>28.05.2026</a:t>
            </a:fld>
            <a:endParaRPr lang="ru-RU" noProof="0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объекта содержимого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49C8ABD-000F-7A94-A7B0-9589F4FEF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3DC3A554-E5A9-B3CB-913D-45DBFBA79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E3A8DF3-F55A-2494-C55D-8FB94BBC6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779DC86E-6F8A-B036-5CB2-AA8A79837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9B9E0C03-C633-9356-4E28-678BAB7A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20C8A4F7-6C4C-719B-298F-3B81223D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2E7E5D8B-D6BC-19AE-C0C9-249A55617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b" anchorCtr="0">
            <a:noAutofit/>
          </a:bodyPr>
          <a:lstStyle>
            <a:lvl1pPr>
              <a:defRPr sz="3600"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15" name="Объект 3">
            <a:extLst>
              <a:ext uri="{FF2B5EF4-FFF2-40B4-BE49-F238E27FC236}">
                <a16:creationId xmlns:a16="http://schemas.microsoft.com/office/drawing/2014/main" id="{7A6C5266-7ECA-B150-2C0F-8670F43AC82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8200" y="1987669"/>
            <a:ext cx="6974711" cy="4297679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800"/>
            </a:lvl2pPr>
            <a:lvl3pPr>
              <a:spcBef>
                <a:spcPts val="1000"/>
              </a:spcBef>
              <a:spcAft>
                <a:spcPts val="500"/>
              </a:spcAft>
              <a:defRPr sz="1800"/>
            </a:lvl3pPr>
            <a:lvl4pPr>
              <a:spcBef>
                <a:spcPts val="1000"/>
              </a:spcBef>
              <a:spcAft>
                <a:spcPts val="500"/>
              </a:spcAft>
              <a:defRPr sz="1800"/>
            </a:lvl4pPr>
            <a:lvl5pPr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17085" y="1987670"/>
            <a:ext cx="3436716" cy="429768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BB5977-0A28-4AB9-98DC-E6F33870A0AF}" type="datetime1">
              <a:rPr lang="ru-RU" noProof="0" smtClean="0"/>
              <a:t>28.05.2026</a:t>
            </a:fld>
            <a:endParaRPr lang="ru-RU" noProof="0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37588714-FE55-FCEF-78C2-2A4D11ECD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BAF6BF02-4CD8-261B-BE58-05677EB94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61AF1F17-7A1F-BCA2-15C0-417928B4E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FF0ADE0B-D150-E72B-EE9A-E5EFDBC6F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BBCDD5A-A3C4-DF4F-74AD-CAF0F465B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49430AE4-C878-DFAB-EDA5-36B97176D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F61487B2-0348-2FFC-03FB-6508B6FD3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b" anchorCtr="0">
            <a:noAutofit/>
          </a:bodyPr>
          <a:lstStyle>
            <a:lvl1pPr>
              <a:defRPr sz="3600"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8" name="Таблица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838199" y="2125262"/>
            <a:ext cx="10515600" cy="36759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ru-RU" noProof="0" dirty="0"/>
              <a:t>Щелкните значок, чтобы добавить таблицу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4261BD0-E7BF-49DD-9A22-152A48698AC6}" type="datetime1">
              <a:rPr lang="ru-RU" noProof="0" smtClean="0"/>
              <a:t>28.05.2026</a:t>
            </a:fld>
            <a:endParaRPr lang="ru-RU" noProof="0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 rtlCol="0">
            <a:normAutofit/>
          </a:bodyPr>
          <a:lstStyle>
            <a:lvl1pPr marL="0" indent="0">
              <a:buNone/>
              <a:defRPr sz="2000"/>
            </a:lvl1pPr>
          </a:lstStyle>
          <a:p>
            <a:pPr rtl="0"/>
            <a:r>
              <a:rPr lang="ru-RU" noProof="0" dirty="0"/>
              <a:t>Щелкните значок, чтобы добавить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rtlCol="0" anchor="b">
            <a:noAutofit/>
          </a:bodyPr>
          <a:lstStyle/>
          <a:p>
            <a:pPr rtl="0"/>
            <a:endParaRPr lang="ru-RU" noProof="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rtlCol="0"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954AD8BA-12A1-40A0-B5A6-C36392043198}" type="datetime1">
              <a:rPr lang="ru-RU" noProof="0" smtClean="0"/>
              <a:t>28.05.2026</a:t>
            </a:fld>
            <a:endParaRPr lang="ru-RU" noProof="0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endParaRPr lang="ru-RU" noProof="0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CBD12358-51D2-46B3-9BDE-DF29528B9454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59" r:id="rId4"/>
    <p:sldLayoutId id="2147483650" r:id="rId5"/>
    <p:sldLayoutId id="2147483649" r:id="rId6"/>
    <p:sldLayoutId id="2147483662" r:id="rId7"/>
    <p:sldLayoutId id="2147483663" r:id="rId8"/>
    <p:sldLayoutId id="2147483652" r:id="rId9"/>
    <p:sldLayoutId id="2147483666" r:id="rId10"/>
    <p:sldLayoutId id="2147483664" r:id="rId11"/>
    <p:sldLayoutId id="2147483665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i="1" kern="1200" cap="all" baseline="0">
          <a:solidFill>
            <a:schemeClr val="accent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0835" y="1016465"/>
            <a:ext cx="10665838" cy="1333733"/>
          </a:xfrm>
        </p:spPr>
        <p:txBody>
          <a:bodyPr rtlCol="0"/>
          <a:lstStyle/>
          <a:p>
            <a:pPr algn="ctr" fontAlgn="base"/>
            <a:r>
              <a:rPr lang="ru-RU" i="0" dirty="0">
                <a:latin typeface="+mj-lt"/>
              </a:rPr>
              <a:t>Экономика как набор решений с человеческой ценой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D524F4-B52C-4E31-A21C-00AD605A2FDC}"/>
              </a:ext>
            </a:extLst>
          </p:cNvPr>
          <p:cNvSpPr txBox="1"/>
          <p:nvPr/>
        </p:nvSpPr>
        <p:spPr>
          <a:xfrm>
            <a:off x="7663070" y="4890052"/>
            <a:ext cx="43192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cs typeface="Times New Roman" panose="02020603050405020304" pitchFamily="18" charset="0"/>
              </a:rPr>
              <a:t>Выполнила: Апалькова Дарья, ПОАФ(б)-51</a:t>
            </a:r>
          </a:p>
        </p:txBody>
      </p:sp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911" y="229369"/>
            <a:ext cx="9304177" cy="1657117"/>
          </a:xfrm>
          <a:noFill/>
        </p:spPr>
        <p:txBody>
          <a:bodyPr rtlCol="0">
            <a:noAutofit/>
          </a:bodyPr>
          <a:lstStyle/>
          <a:p>
            <a:pPr algn="ctr"/>
            <a:r>
              <a:rPr lang="ru-RU" i="0" dirty="0">
                <a:latin typeface="+mj-lt"/>
              </a:rPr>
              <a:t>1-ый этап</a:t>
            </a:r>
            <a:endParaRPr lang="ru" i="0" dirty="0">
              <a:latin typeface="+mj-lt"/>
            </a:endParaRP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3194475A-7061-2F71-FC76-C5FF85BE9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128963"/>
              </p:ext>
            </p:extLst>
          </p:nvPr>
        </p:nvGraphicFramePr>
        <p:xfrm>
          <a:off x="748747" y="1570382"/>
          <a:ext cx="10694504" cy="4982821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257992">
                  <a:extLst>
                    <a:ext uri="{9D8B030D-6E8A-4147-A177-3AD203B41FA5}">
                      <a16:colId xmlns:a16="http://schemas.microsoft.com/office/drawing/2014/main" val="2169791466"/>
                    </a:ext>
                  </a:extLst>
                </a:gridCol>
                <a:gridCol w="8436512">
                  <a:extLst>
                    <a:ext uri="{9D8B030D-6E8A-4147-A177-3AD203B41FA5}">
                      <a16:colId xmlns:a16="http://schemas.microsoft.com/office/drawing/2014/main" val="1282547213"/>
                    </a:ext>
                  </a:extLst>
                </a:gridCol>
              </a:tblGrid>
              <a:tr h="42003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Параметр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Сведения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503246"/>
                  </a:ext>
                </a:extLst>
              </a:tr>
              <a:tr h="103569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UK Becomes a Case Study in How Not to Fix a Floundering Economy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927466"/>
                  </a:ext>
                </a:extLst>
              </a:tr>
              <a:tr h="1346398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Издание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Daily Economy (</a:t>
                      </a:r>
                      <a:r>
                        <a:rPr lang="en-US" dirty="0" err="1"/>
                        <a:t>аффилировано</a:t>
                      </a:r>
                      <a:r>
                        <a:rPr lang="en-US" dirty="0"/>
                        <a:t> с AIER — American Institute for Economic Research)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081300"/>
                  </a:ext>
                </a:extLst>
              </a:tr>
              <a:tr h="103569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Автор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</a:rPr>
                        <a:t>John </a:t>
                      </a:r>
                      <a:r>
                        <a:rPr lang="ru-RU" sz="1800" dirty="0" err="1">
                          <a:effectLst/>
                        </a:rPr>
                        <a:t>Phelan</a:t>
                      </a:r>
                      <a:r>
                        <a:rPr lang="ru-RU" sz="1800" dirty="0">
                          <a:effectLst/>
                        </a:rPr>
                        <a:t>, экономист, старший научный сотрудник AIER</a:t>
                      </a:r>
                      <a:endParaRPr lang="ru-RU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852112"/>
                  </a:ext>
                </a:extLst>
              </a:tr>
              <a:tr h="42003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18 декабря 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860423"/>
                  </a:ext>
                </a:extLst>
              </a:tr>
              <a:tr h="724983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Источник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</a:rPr>
                        <a:t>thedailyeconomy.org</a:t>
                      </a:r>
                      <a:endParaRPr lang="ru-RU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200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763" y="662475"/>
            <a:ext cx="10907486" cy="653141"/>
          </a:xfrm>
          <a:noFill/>
        </p:spPr>
        <p:txBody>
          <a:bodyPr rtlCol="0" anchor="b"/>
          <a:lstStyle/>
          <a:p>
            <a:r>
              <a:rPr lang="ru-RU" sz="4000" i="0" dirty="0">
                <a:latin typeface="+mj-lt"/>
              </a:rPr>
              <a:t>Суть статьи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2A17B5-CC69-46DA-AD70-6A1E794DEBE2}"/>
              </a:ext>
            </a:extLst>
          </p:cNvPr>
          <p:cNvSpPr txBox="1"/>
          <p:nvPr/>
        </p:nvSpPr>
        <p:spPr>
          <a:xfrm>
            <a:off x="979715" y="1922106"/>
            <a:ext cx="10832840" cy="3344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just">
              <a:spcBef>
                <a:spcPts val="400"/>
              </a:spcBef>
              <a:spcAft>
                <a:spcPts val="600"/>
              </a:spcAft>
            </a:pPr>
            <a:r>
              <a:rPr lang="ru-RU" sz="2000" dirty="0">
                <a:effectLst/>
                <a:ea typeface="Arial" panose="020B0604020202020204" pitchFamily="34" charset="0"/>
              </a:rPr>
              <a:t>Главный тезис сформулирован в подзаголовке: британские бюджетные исправления показывают, как быстро государство может ухудшить финансы, если лечит проблему предложения инструментами стимулирования спроса. Правительство поставило неверный диагноз болезни экономики и назначило неправильное лечение, тем самым усугубив ситуацию.</a:t>
            </a:r>
          </a:p>
          <a:p>
            <a:pPr indent="450215" algn="just">
              <a:spcBef>
                <a:spcPts val="400"/>
              </a:spcBef>
              <a:spcAft>
                <a:spcPts val="600"/>
              </a:spcAft>
            </a:pPr>
            <a:r>
              <a:rPr lang="ru-RU" sz="2000" dirty="0">
                <a:effectLst/>
                <a:ea typeface="Arial" panose="020B0604020202020204" pitchFamily="34" charset="0"/>
              </a:rPr>
              <a:t>Статья прослеживает причинно-следственную цепочку: предвыборные обещания не повышать налоги — ссылка на обнаруженную «дыру» в госфинансах — крупнейшее повышение налогов за 30 лет — рост безработицы, инфляции и падение реальных зарплат — ухудшение фискального прогноза.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250025"/>
            <a:ext cx="10233590" cy="787296"/>
          </a:xfrm>
          <a:noFill/>
        </p:spPr>
        <p:txBody>
          <a:bodyPr rtlCol="0">
            <a:noAutofit/>
          </a:bodyPr>
          <a:lstStyle/>
          <a:p>
            <a:pPr algn="ctr"/>
            <a:r>
              <a:rPr lang="ru-RU" sz="4000" i="0" dirty="0">
                <a:latin typeface="+mj-lt"/>
              </a:rPr>
              <a:t>Ключевые экономические явления</a:t>
            </a:r>
            <a:endParaRPr lang="ru" sz="4000" i="0" dirty="0">
              <a:latin typeface="+mj-lt"/>
            </a:endParaRP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CF737A4A-901D-96CF-FAB7-C159979ED7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807314"/>
              </p:ext>
            </p:extLst>
          </p:nvPr>
        </p:nvGraphicFramePr>
        <p:xfrm>
          <a:off x="387627" y="1037321"/>
          <a:ext cx="11589025" cy="5676757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084842">
                  <a:extLst>
                    <a:ext uri="{9D8B030D-6E8A-4147-A177-3AD203B41FA5}">
                      <a16:colId xmlns:a16="http://schemas.microsoft.com/office/drawing/2014/main" val="3922922525"/>
                    </a:ext>
                  </a:extLst>
                </a:gridCol>
                <a:gridCol w="5592644">
                  <a:extLst>
                    <a:ext uri="{9D8B030D-6E8A-4147-A177-3AD203B41FA5}">
                      <a16:colId xmlns:a16="http://schemas.microsoft.com/office/drawing/2014/main" val="332796182"/>
                    </a:ext>
                  </a:extLst>
                </a:gridCol>
                <a:gridCol w="3911539">
                  <a:extLst>
                    <a:ext uri="{9D8B030D-6E8A-4147-A177-3AD203B41FA5}">
                      <a16:colId xmlns:a16="http://schemas.microsoft.com/office/drawing/2014/main" val="631469934"/>
                    </a:ext>
                  </a:extLst>
                </a:gridCol>
              </a:tblGrid>
              <a:tr h="272588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Термин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Определение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Как проявляется в статье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959675"/>
                  </a:ext>
                </a:extLst>
              </a:tr>
              <a:tr h="654211">
                <a:tc>
                  <a:txBody>
                    <a:bodyPr/>
                    <a:lstStyle/>
                    <a:p>
                      <a:r>
                        <a:rPr lang="ru-RU" sz="1200" dirty="0"/>
                        <a:t>Бюджетный дефицит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Превышение расходов государства над его доходами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«Дыра» в 21,9 млрд фунтов — обоснование для роста налогов</a:t>
                      </a:r>
                    </a:p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872746"/>
                  </a:ext>
                </a:extLst>
              </a:tr>
              <a:tr h="654211">
                <a:tc>
                  <a:txBody>
                    <a:bodyPr/>
                    <a:lstStyle/>
                    <a:p>
                      <a:r>
                        <a:rPr lang="ru-RU" sz="1200" dirty="0"/>
                        <a:t>Инфляция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Устойчивое повышение общего уровня цен на товары и услуги, приводящее к снижению покупательной способности денег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</a:rPr>
                        <a:t>Инфляция выросла с 2,3% до 3,6% при целевом уровне 2%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498836"/>
                  </a:ext>
                </a:extLst>
              </a:tr>
              <a:tr h="654211">
                <a:tc>
                  <a:txBody>
                    <a:bodyPr/>
                    <a:lstStyle/>
                    <a:p>
                      <a:r>
                        <a:rPr lang="ru-RU" sz="1200" dirty="0"/>
                        <a:t>Инфляция издержек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Рост общего уровня цен, вызванный увеличением затрат на производство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</a:rPr>
                        <a:t>Рост зарплат и н</a:t>
                      </a:r>
                      <a:r>
                        <a:rPr lang="ru-RU" sz="1200" dirty="0"/>
                        <a:t>алог на заработную плату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</a:rPr>
                        <a:t> перекладывается в рост цен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069692"/>
                  </a:ext>
                </a:extLst>
              </a:tr>
              <a:tr h="654211">
                <a:tc>
                  <a:txBody>
                    <a:bodyPr/>
                    <a:lstStyle/>
                    <a:p>
                      <a:r>
                        <a:rPr lang="ru-RU" sz="1200" dirty="0"/>
                        <a:t>Налог на заработную плату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Налог, базой которого является вся сумма заработной платы, выплачиваемая данной организацией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</a:rPr>
                        <a:t>Повышение на 2 </a:t>
                      </a:r>
                      <a:r>
                        <a:rPr lang="ru-RU" sz="1200" dirty="0" err="1">
                          <a:effectLst/>
                        </a:rPr>
                        <a:t>п.п</a:t>
                      </a:r>
                      <a:r>
                        <a:rPr lang="ru-RU" sz="1200" dirty="0">
                          <a:effectLst/>
                        </a:rPr>
                        <a:t>. — 40% фирм сократили штат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787078"/>
                  </a:ext>
                </a:extLst>
              </a:tr>
              <a:tr h="654211">
                <a:tc>
                  <a:txBody>
                    <a:bodyPr/>
                    <a:lstStyle/>
                    <a:p>
                      <a:r>
                        <a:rPr lang="ru-RU" sz="1200" dirty="0"/>
                        <a:t>Налоговый клин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Разница, вызванная взносами в фонды страхования по безработице и отчислениями на социальное страхование, между денежными выплатами работникам наемного труда за дополнительную работу и затратами на них работодателей.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</a:rPr>
                        <a:t>Налог на заработную плату увеличил клин — работодатели нанимают меньше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870336"/>
                  </a:ext>
                </a:extLst>
              </a:tr>
              <a:tr h="654211">
                <a:tc>
                  <a:txBody>
                    <a:bodyPr/>
                    <a:lstStyle/>
                    <a:p>
                      <a:r>
                        <a:rPr lang="ru-RU" sz="1200" dirty="0"/>
                        <a:t>Реальная заработная плата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Заработная плата, исчисленная как совокупность благ, потребительских товаров и услуг, которые можно на нее приобрести.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</a:rPr>
                        <a:t>Рост упал с 2,4% до 0,7% — покупательная сила стагнирует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739662"/>
                  </a:ext>
                </a:extLst>
              </a:tr>
              <a:tr h="654211">
                <a:tc>
                  <a:txBody>
                    <a:bodyPr/>
                    <a:lstStyle/>
                    <a:p>
                      <a:r>
                        <a:rPr lang="ru-RU" sz="1200" dirty="0"/>
                        <a:t>Доходность облигации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Величина прибыли, которую инвестор получает в результате вложений в ценную бумагу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</a:rPr>
                        <a:t>Одна из самых высоких доходностей среди развитых стран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317446"/>
                  </a:ext>
                </a:extLst>
              </a:tr>
              <a:tr h="654211">
                <a:tc>
                  <a:txBody>
                    <a:bodyPr/>
                    <a:lstStyle/>
                    <a:p>
                      <a:r>
                        <a:rPr lang="ru-RU" sz="1200" dirty="0"/>
                        <a:t>Проблемы со стороны предложения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Экономические ограничения и трудности, мешающие бизнесу производить и доставлять товары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</a:rPr>
                        <a:t>Ошибочная диагностика — правительство лечит спрос вместо предложения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717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039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5433" y="338339"/>
            <a:ext cx="9109477" cy="1009122"/>
          </a:xfrm>
          <a:noFill/>
        </p:spPr>
        <p:txBody>
          <a:bodyPr rtlCol="0"/>
          <a:lstStyle/>
          <a:p>
            <a:pPr algn="ctr"/>
            <a:r>
              <a:rPr lang="ru-RU" sz="4000" i="0" dirty="0">
                <a:solidFill>
                  <a:schemeClr val="tx1"/>
                </a:solidFill>
              </a:rPr>
              <a:t>2-ой этап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689A8BC0-B0F5-65B0-14EE-9907932E6D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722104"/>
              </p:ext>
            </p:extLst>
          </p:nvPr>
        </p:nvGraphicFramePr>
        <p:xfrm>
          <a:off x="1745433" y="1526625"/>
          <a:ext cx="9404674" cy="4818107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682079">
                  <a:extLst>
                    <a:ext uri="{9D8B030D-6E8A-4147-A177-3AD203B41FA5}">
                      <a16:colId xmlns:a16="http://schemas.microsoft.com/office/drawing/2014/main" val="4258668008"/>
                    </a:ext>
                  </a:extLst>
                </a:gridCol>
                <a:gridCol w="7722595">
                  <a:extLst>
                    <a:ext uri="{9D8B030D-6E8A-4147-A177-3AD203B41FA5}">
                      <a16:colId xmlns:a16="http://schemas.microsoft.com/office/drawing/2014/main" val="2764149444"/>
                    </a:ext>
                  </a:extLst>
                </a:gridCol>
              </a:tblGrid>
              <a:tr h="460216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Параметр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Сведения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156150"/>
                  </a:ext>
                </a:extLst>
              </a:tr>
              <a:tr h="652558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Земля кочевников / </a:t>
                      </a:r>
                      <a:r>
                        <a:rPr lang="en-US" dirty="0" err="1"/>
                        <a:t>Nomadland</a:t>
                      </a:r>
                      <a:endParaRPr lang="en-US" dirty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735218"/>
                  </a:ext>
                </a:extLst>
              </a:tr>
              <a:tr h="596348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Год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2020</a:t>
                      </a:r>
                      <a:endParaRPr lang="en-US" dirty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6632749"/>
                  </a:ext>
                </a:extLst>
              </a:tr>
              <a:tr h="51572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Режиссёр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</a:rPr>
                        <a:t>Хлоя Чжао (</a:t>
                      </a:r>
                      <a:r>
                        <a:rPr lang="en-US" sz="1800" dirty="0">
                          <a:effectLst/>
                        </a:rPr>
                        <a:t>Chloé Zhao)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109386"/>
                  </a:ext>
                </a:extLst>
              </a:tr>
              <a:tr h="42003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Основа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effectLst/>
                        </a:rPr>
                        <a:t>Книга Джессики Брудер «</a:t>
                      </a:r>
                      <a:r>
                        <a:rPr lang="ru-RU" sz="1800" dirty="0" err="1">
                          <a:effectLst/>
                        </a:rPr>
                        <a:t>Nomadland</a:t>
                      </a:r>
                      <a:r>
                        <a:rPr lang="ru-RU" sz="1800" dirty="0">
                          <a:effectLst/>
                        </a:rPr>
                        <a:t>: </a:t>
                      </a:r>
                      <a:r>
                        <a:rPr lang="ru-RU" sz="1800" dirty="0" err="1">
                          <a:effectLst/>
                        </a:rPr>
                        <a:t>Surviving</a:t>
                      </a:r>
                      <a:r>
                        <a:rPr lang="ru-RU" sz="1800" dirty="0">
                          <a:effectLst/>
                        </a:rPr>
                        <a:t> America» (2017)</a:t>
                      </a:r>
                      <a:endParaRPr lang="ru-RU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466585"/>
                  </a:ext>
                </a:extLst>
              </a:tr>
              <a:tr h="4200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Главная роль</a:t>
                      </a:r>
                    </a:p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</a:rPr>
                        <a:t>Фрэнсис </a:t>
                      </a:r>
                      <a:r>
                        <a:rPr lang="ru-RU" sz="1800" dirty="0" err="1">
                          <a:effectLst/>
                        </a:rPr>
                        <a:t>МакДорманд</a:t>
                      </a:r>
                      <a:r>
                        <a:rPr lang="ru-RU" sz="1800" dirty="0">
                          <a:effectLst/>
                        </a:rPr>
                        <a:t> (</a:t>
                      </a:r>
                      <a:r>
                        <a:rPr lang="ru-RU" sz="1800" dirty="0" err="1">
                          <a:effectLst/>
                        </a:rPr>
                        <a:t>Fern</a:t>
                      </a:r>
                      <a:r>
                        <a:rPr lang="ru-RU" sz="1800" dirty="0">
                          <a:effectLst/>
                        </a:rPr>
                        <a:t>)</a:t>
                      </a:r>
                      <a:endParaRPr lang="ru-RU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16300"/>
                  </a:ext>
                </a:extLst>
              </a:tr>
              <a:tr h="724983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Награды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effectLst/>
                        </a:rPr>
                        <a:t>3 премии «Оскар» 2021: лучший фильм, режиссёр, женская роль</a:t>
                      </a:r>
                      <a:endParaRPr lang="ru-RU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334388"/>
                  </a:ext>
                </a:extLst>
              </a:tr>
              <a:tr h="41687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Страна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</a:rPr>
                        <a:t>США</a:t>
                      </a:r>
                      <a:endParaRPr lang="ru-RU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835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060" y="541582"/>
            <a:ext cx="10479157" cy="489857"/>
          </a:xfrm>
          <a:noFill/>
        </p:spPr>
        <p:txBody>
          <a:bodyPr rtlCol="0"/>
          <a:lstStyle/>
          <a:p>
            <a:r>
              <a:rPr lang="ru-RU" sz="4000" i="0" dirty="0">
                <a:solidFill>
                  <a:schemeClr val="tx1"/>
                </a:solidFill>
                <a:latin typeface="+mj-lt"/>
              </a:rPr>
              <a:t>Краткое содержание фильма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E3759C-14E1-9FED-0953-E8BC875F2FBB}"/>
              </a:ext>
            </a:extLst>
          </p:cNvPr>
          <p:cNvSpPr txBox="1"/>
          <p:nvPr/>
        </p:nvSpPr>
        <p:spPr>
          <a:xfrm>
            <a:off x="284480" y="1634348"/>
            <a:ext cx="4023360" cy="4634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>
              <a:lnSpc>
                <a:spcPct val="108000"/>
              </a:lnSpc>
              <a:spcBef>
                <a:spcPts val="400"/>
              </a:spcBef>
              <a:spcAft>
                <a:spcPts val="600"/>
              </a:spcAft>
            </a:pPr>
            <a:r>
              <a:rPr lang="ru-RU" sz="1800" dirty="0">
                <a:effectLst/>
                <a:ea typeface="Arial" panose="020B0604020202020204" pitchFamily="34" charset="0"/>
              </a:rPr>
              <a:t>Потеряв работу, мужа и дом, </a:t>
            </a:r>
            <a:r>
              <a:rPr lang="ru-RU" sz="1800" dirty="0" err="1">
                <a:effectLst/>
                <a:ea typeface="Arial" panose="020B0604020202020204" pitchFamily="34" charset="0"/>
              </a:rPr>
              <a:t>Фэрн</a:t>
            </a:r>
            <a:r>
              <a:rPr lang="ru-RU" sz="1800" dirty="0">
                <a:effectLst/>
                <a:ea typeface="Arial" panose="020B0604020202020204" pitchFamily="34" charset="0"/>
              </a:rPr>
              <a:t> садится в фургон и начинает кочевую жизнь. Она перемещается между сезонными работами: склад Amazon в Неваде (рождественский сезон), свекольные фермы в Небраске, национальные парки на западе страны. Фильм показывает не отдельную трагедию, а системное явление: тысячи американцев, выброшенных из «нормальной» экономики, создали собственную параллельную экономику выживания.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D767EBC-D364-1A3A-0BD6-11E65E152F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966" y="1500809"/>
            <a:ext cx="7474224" cy="420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F42207-294C-49C8-93CC-285106847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857184"/>
          </a:xfrm>
        </p:spPr>
        <p:txBody>
          <a:bodyPr/>
          <a:lstStyle/>
          <a:p>
            <a:pPr algn="ctr"/>
            <a:r>
              <a:rPr lang="ru-RU" sz="3600" i="0" dirty="0">
                <a:solidFill>
                  <a:schemeClr val="tx1"/>
                </a:solidFill>
                <a:latin typeface="+mj-lt"/>
              </a:rPr>
              <a:t>Ключевые экономические явления</a:t>
            </a:r>
            <a:endParaRPr lang="ru-RU" i="0" dirty="0"/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53439F04-3D79-5FDF-6B23-0A2530F3A0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360012"/>
              </p:ext>
            </p:extLst>
          </p:nvPr>
        </p:nvGraphicFramePr>
        <p:xfrm>
          <a:off x="366091" y="932867"/>
          <a:ext cx="11658601" cy="581922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117035">
                  <a:extLst>
                    <a:ext uri="{9D8B030D-6E8A-4147-A177-3AD203B41FA5}">
                      <a16:colId xmlns:a16="http://schemas.microsoft.com/office/drawing/2014/main" val="734504508"/>
                    </a:ext>
                  </a:extLst>
                </a:gridCol>
                <a:gridCol w="5923722">
                  <a:extLst>
                    <a:ext uri="{9D8B030D-6E8A-4147-A177-3AD203B41FA5}">
                      <a16:colId xmlns:a16="http://schemas.microsoft.com/office/drawing/2014/main" val="2111103177"/>
                    </a:ext>
                  </a:extLst>
                </a:gridCol>
                <a:gridCol w="3617844">
                  <a:extLst>
                    <a:ext uri="{9D8B030D-6E8A-4147-A177-3AD203B41FA5}">
                      <a16:colId xmlns:a16="http://schemas.microsoft.com/office/drawing/2014/main" val="2830540247"/>
                    </a:ext>
                  </a:extLst>
                </a:gridCol>
              </a:tblGrid>
              <a:tr h="288218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Термин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Определение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Как показано в фильме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971489"/>
                  </a:ext>
                </a:extLst>
              </a:tr>
              <a:tr h="648490">
                <a:tc>
                  <a:txBody>
                    <a:bodyPr/>
                    <a:lstStyle/>
                    <a:p>
                      <a:r>
                        <a:rPr lang="ru-RU" sz="1200" dirty="0"/>
                        <a:t>Деиндустриализация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Процесс сокращения доли промышленного сектора в экономике страны или региона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Закрытие USG уничтожает не только рабочие места, но и сам город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44344"/>
                  </a:ext>
                </a:extLst>
              </a:tr>
              <a:tr h="648490">
                <a:tc>
                  <a:txBody>
                    <a:bodyPr/>
                    <a:lstStyle/>
                    <a:p>
                      <a:r>
                        <a:rPr lang="ru-RU" sz="1200" dirty="0"/>
                        <a:t>Структурная безработица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Экономическое явление, при котором работники остаются без места из-за несоответствия их навыков требованиям работодателей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Бывшие рабочие завода не могут найти сопоставимую занятость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506989"/>
                  </a:ext>
                </a:extLst>
              </a:tr>
              <a:tr h="840636">
                <a:tc>
                  <a:txBody>
                    <a:bodyPr/>
                    <a:lstStyle/>
                    <a:p>
                      <a:r>
                        <a:rPr lang="ru-RU" sz="1200" dirty="0"/>
                        <a:t>Гиг-экономика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Рынок краткосрочной или проектной занятости, где компании не нанимают сотрудников в штат на полный день, а привлекают независимых специалистов для выполнения разовых задач.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Маршрут </a:t>
                      </a:r>
                      <a:r>
                        <a:rPr lang="ru-RU" sz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Фэрн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: Amazon — фермы — парки — кафе</a:t>
                      </a:r>
                      <a:endParaRPr lang="ru-RU" sz="12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5250" marR="95250" marT="63500" marB="63500"/>
                </a:tc>
                <a:extLst>
                  <a:ext uri="{0D108BD9-81ED-4DB2-BD59-A6C34878D82A}">
                    <a16:rowId xmlns:a16="http://schemas.microsoft.com/office/drawing/2014/main" val="3269407586"/>
                  </a:ext>
                </a:extLst>
              </a:tr>
              <a:tr h="456345">
                <a:tc>
                  <a:txBody>
                    <a:bodyPr/>
                    <a:lstStyle/>
                    <a:p>
                      <a:r>
                        <a:rPr lang="ru-RU" sz="1200" dirty="0" err="1"/>
                        <a:t>Прекаризация</a:t>
                      </a:r>
                      <a:r>
                        <a:rPr lang="ru-RU" sz="1200" dirty="0"/>
                        <a:t> труда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Процесс перехода к нестабильной, временной занятости</a:t>
                      </a:r>
                      <a:endParaRPr lang="ru-RU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Работа есть, но нет страховки, пенсии и стабильности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529955"/>
                  </a:ext>
                </a:extLst>
              </a:tr>
              <a:tr h="456345">
                <a:tc>
                  <a:txBody>
                    <a:bodyPr/>
                    <a:lstStyle/>
                    <a:p>
                      <a:r>
                        <a:rPr lang="ru-RU" sz="1200" dirty="0"/>
                        <a:t>Монопсония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/>
                        <a:t>тип рынка, при котором существует </a:t>
                      </a:r>
                      <a:r>
                        <a:rPr lang="ru-RU" sz="12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только один покупатель</a:t>
                      </a:r>
                      <a:r>
                        <a:rPr lang="ru-RU" sz="1200" b="0" dirty="0"/>
                        <a:t> при множестве продавцов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Amazon диктует условия труда без альтернатив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04734"/>
                  </a:ext>
                </a:extLst>
              </a:tr>
              <a:tr h="456345">
                <a:tc>
                  <a:txBody>
                    <a:bodyPr/>
                    <a:lstStyle/>
                    <a:p>
                      <a:r>
                        <a:rPr lang="ru-RU" sz="1200" dirty="0"/>
                        <a:t>Платформенный капитализм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Современная форма экономики, где главными игроками выступают цифровые платформы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Amazon нанимает к Рождеству и отпускает в январе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529270"/>
                  </a:ext>
                </a:extLst>
              </a:tr>
              <a:tr h="648490">
                <a:tc>
                  <a:txBody>
                    <a:bodyPr/>
                    <a:lstStyle/>
                    <a:p>
                      <a:r>
                        <a:rPr lang="ru-RU" sz="1200" dirty="0"/>
                        <a:t>Неформальная экономика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Экономическая деятельность по производству легальных товаров и услуг, которая скрывается от официального учета и налогообложения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Обмен вещами и услугами на слётах без денег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276573"/>
                  </a:ext>
                </a:extLst>
              </a:tr>
              <a:tr h="459753">
                <a:tc>
                  <a:txBody>
                    <a:bodyPr/>
                    <a:lstStyle/>
                    <a:p>
                      <a:r>
                        <a:rPr lang="ru-RU" sz="1200" dirty="0"/>
                        <a:t>Отрицательные </a:t>
                      </a:r>
                      <a:r>
                        <a:rPr lang="ru-RU" sz="1200" dirty="0" err="1"/>
                        <a:t>экстерналии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Издержки или ущерб от экономической деятельности, которые ложатся на третьих лиц, не участвующих в сделке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Корпорация закрыла завод — город прекратил существование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426843"/>
                  </a:ext>
                </a:extLst>
              </a:tr>
              <a:tr h="456345">
                <a:tc>
                  <a:txBody>
                    <a:bodyPr/>
                    <a:lstStyle/>
                    <a:p>
                      <a:r>
                        <a:rPr lang="ru-RU" sz="1200" dirty="0"/>
                        <a:t>Работающие бедные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Работающие люди без достаточного дохода для жилья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Фэрн</a:t>
                      </a:r>
                      <a:r>
                        <a:rPr lang="ru-RU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работает, но живёт в фургоне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557989"/>
                  </a:ext>
                </a:extLst>
              </a:tr>
              <a:tr h="456345">
                <a:tc>
                  <a:txBody>
                    <a:bodyPr/>
                    <a:lstStyle/>
                    <a:p>
                      <a:r>
                        <a:rPr lang="ru-RU" sz="1200" dirty="0"/>
                        <a:t>Провал пенсионной системы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Невыполнение системой обещания обеспечить старость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Накопления потеряны в 2008 году, Social Security слишком мала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155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0561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1095653" cy="959822"/>
          </a:xfrm>
          <a:noFill/>
        </p:spPr>
        <p:txBody>
          <a:bodyPr rtlCol="0"/>
          <a:lstStyle/>
          <a:p>
            <a:pPr algn="ctr"/>
            <a:r>
              <a:rPr lang="ru-RU" sz="4000" i="0" dirty="0">
                <a:solidFill>
                  <a:schemeClr val="tx1"/>
                </a:solidFill>
                <a:latin typeface="+mj-lt"/>
              </a:rPr>
              <a:t>заключение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465607BC-A895-44A2-ACCE-3C730117C94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091682" y="1772816"/>
            <a:ext cx="10262118" cy="4327339"/>
          </a:xfrm>
        </p:spPr>
        <p:txBody>
          <a:bodyPr/>
          <a:lstStyle/>
          <a:p>
            <a:pPr indent="450215">
              <a:spcBef>
                <a:spcPts val="400"/>
              </a:spcBef>
              <a:spcAft>
                <a:spcPts val="600"/>
              </a:spcAft>
            </a:pPr>
            <a:r>
              <a:rPr lang="ru-RU" sz="2400" dirty="0">
                <a:effectLst/>
                <a:ea typeface="Arial" panose="020B0604020202020204" pitchFamily="34" charset="0"/>
              </a:rPr>
              <a:t>Экономика — это не только графики и формулы, но и живые человеческие истории. Британская статья предоставляет «вид сверху»: она оперирует процентами, миллиардами фунтов и макроэкономическими прогнозами, но за каждой цифрой скрывается реальный человек, который потерял работу или не может себе позволить рост цен.</a:t>
            </a:r>
          </a:p>
          <a:p>
            <a:pPr indent="450215">
              <a:spcBef>
                <a:spcPts val="400"/>
              </a:spcBef>
              <a:spcAft>
                <a:spcPts val="600"/>
              </a:spcAft>
            </a:pPr>
            <a:r>
              <a:rPr lang="ru-RU" sz="2400" dirty="0">
                <a:effectLst/>
                <a:ea typeface="Arial" panose="020B0604020202020204" pitchFamily="34" charset="0"/>
              </a:rPr>
              <a:t>Фильм «Земля кочевников», напротив, даёт «вид снизу»: мы видим одного конкретного человека, но через его историю понимаем масштаб системных явлений — деиндустриализации, </a:t>
            </a:r>
            <a:r>
              <a:rPr lang="ru-RU" sz="2400" dirty="0" err="1">
                <a:effectLst/>
                <a:ea typeface="Arial" panose="020B0604020202020204" pitchFamily="34" charset="0"/>
              </a:rPr>
              <a:t>прекаризации</a:t>
            </a:r>
            <a:r>
              <a:rPr lang="ru-RU" sz="2400" dirty="0">
                <a:effectLst/>
                <a:ea typeface="Arial" panose="020B0604020202020204" pitchFamily="34" charset="0"/>
              </a:rPr>
              <a:t>, монопсонии, провала пенсионной системы. Ни один учебник не объяснит эти понятия так убедительно, как судьба </a:t>
            </a:r>
            <a:r>
              <a:rPr lang="ru-RU" sz="2400" dirty="0" err="1">
                <a:effectLst/>
                <a:ea typeface="Arial" panose="020B0604020202020204" pitchFamily="34" charset="0"/>
              </a:rPr>
              <a:t>Фэрн</a:t>
            </a:r>
            <a:r>
              <a:rPr lang="ru-RU" sz="2400" dirty="0">
                <a:effectLst/>
                <a:ea typeface="Arial" panose="020B0604020202020204" pitchFamily="34" charset="0"/>
              </a:rPr>
              <a:t>, живущей в фургоне.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703" y="529332"/>
            <a:ext cx="10134749" cy="770667"/>
          </a:xfrm>
          <a:noFill/>
        </p:spPr>
        <p:txBody>
          <a:bodyPr rtlCol="0" anchor="b"/>
          <a:lstStyle/>
          <a:p>
            <a:pPr algn="ctr" rtl="0"/>
            <a:r>
              <a:rPr lang="ru-RU" i="0" dirty="0">
                <a:latin typeface="+mj-lt"/>
              </a:rPr>
              <a:t>Спасибо за внимание!</a:t>
            </a:r>
            <a:endParaRPr lang="ru" i="0" dirty="0">
              <a:latin typeface="+mj-lt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DCB8BE2-6A06-330E-5013-2283D397AE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599" y="1411357"/>
            <a:ext cx="9132957" cy="5062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43">
      <a:dk1>
        <a:srgbClr val="000000"/>
      </a:dk1>
      <a:lt1>
        <a:srgbClr val="FFFFFF"/>
      </a:lt1>
      <a:dk2>
        <a:srgbClr val="EFEBEB"/>
      </a:dk2>
      <a:lt2>
        <a:srgbClr val="E8E8E8"/>
      </a:lt2>
      <a:accent1>
        <a:srgbClr val="001D2E"/>
      </a:accent1>
      <a:accent2>
        <a:srgbClr val="145766"/>
      </a:accent2>
      <a:accent3>
        <a:srgbClr val="B99B9F"/>
      </a:accent3>
      <a:accent4>
        <a:srgbClr val="A47930"/>
      </a:accent4>
      <a:accent5>
        <a:srgbClr val="0C577C"/>
      </a:accent5>
      <a:accent6>
        <a:srgbClr val="CC836D"/>
      </a:accent6>
      <a:hlink>
        <a:srgbClr val="467886"/>
      </a:hlink>
      <a:folHlink>
        <a:srgbClr val="96607D"/>
      </a:folHlink>
    </a:clrScheme>
    <a:fontScheme name="Custom 98">
      <a:majorFont>
        <a:latin typeface="Walbaum Display Light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ngle lines design_Win32_SL_V15" id="{7EDC6EF7-8AD3-4A22-B09A-9C2D96F216F8}" vid="{B0E828C9-6219-42BF-B63C-156B68E5CCE4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1846AD4-435D-4592-8088-FE2831A30D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4D4B218-C04B-41F5-949D-06E9DAE96B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283731-47E9-4F14-86D1-57C1EA2672A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869</Words>
  <Application>Microsoft Office PowerPoint</Application>
  <PresentationFormat>Широкоэкранный</PresentationFormat>
  <Paragraphs>112</Paragraphs>
  <Slides>9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Aptos</vt:lpstr>
      <vt:lpstr>Arial</vt:lpstr>
      <vt:lpstr>Calibri</vt:lpstr>
      <vt:lpstr>Times New Roman</vt:lpstr>
      <vt:lpstr>Univers Light</vt:lpstr>
      <vt:lpstr>Walbaum Display Light</vt:lpstr>
      <vt:lpstr>AngleLinesVTI</vt:lpstr>
      <vt:lpstr>Экономика как набор решений с человеческой ценой</vt:lpstr>
      <vt:lpstr>1-ый этап</vt:lpstr>
      <vt:lpstr>Суть статьи</vt:lpstr>
      <vt:lpstr>Ключевые экономические явления</vt:lpstr>
      <vt:lpstr>2-ой этап</vt:lpstr>
      <vt:lpstr>Краткое содержание фильма</vt:lpstr>
      <vt:lpstr>Ключевые экономические явления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2023-12-10T21:10:30Z</dcterms:created>
  <dcterms:modified xsi:type="dcterms:W3CDTF">2026-05-28T06:32:47Z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