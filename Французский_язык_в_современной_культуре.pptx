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apprendre.tv5monde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4C3E6"/>
                </a:solidFill>
                <a:latin typeface="Aptos"/>
              </a:rPr>
              <a:t>FRANÇAIS</a:t>
            </a:r>
            <a:endParaRPr sz="2000" b="1">
              <a:solidFill>
                <a:srgbClr val="B4C3E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94155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Французский язык</a:t>
            </a:r>
            <a:br>
              <a:rPr sz="3800" b="1">
                <a:solidFill>
                  <a:srgbClr val="FFFFFF"/>
                </a:solidFill>
                <a:latin typeface="Aptos"/>
              </a:rPr>
            </a:br>
            <a:r>
              <a:t>в современной культуре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306324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E1E6F0"/>
                </a:solidFill>
                <a:latin typeface="Aptos"/>
              </a:rPr>
              <a:t>Интерактивное занятие</a:t>
            </a:r>
            <a:endParaRPr sz="2000" b="0">
              <a:solidFill>
                <a:srgbClr val="E1E6F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35045" y="5029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CDD4E4"/>
                </a:solidFill>
                <a:latin typeface="Aptos"/>
              </a:rPr>
              <a:t>Автор: Мухина Е.М.</a:t>
            </a:r>
            <a:endParaRPr sz="1500" b="0">
              <a:solidFill>
                <a:srgbClr val="CDD4E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1. Разминка: что ассоциируется с Францией?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65BA6"/>
                </a:solidFill>
                <a:latin typeface="Aptos"/>
              </a:rPr>
              <a:t>Первые ассоциации — без правильных и неправильных ответов</a:t>
            </a:r>
            <a:endParaRPr sz="1300" b="0">
              <a:solidFill>
                <a:srgbClr val="365B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8249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Кино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фильмы и сериалы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8249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Музыка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поп, рэп, шансон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8249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6A542"/>
                </a:solidFill>
                <a:latin typeface="Aptos"/>
              </a:rPr>
              <a:t>Мода</a:t>
            </a:r>
            <a:endParaRPr sz="1600" b="1">
              <a:solidFill>
                <a:srgbClr val="D6A54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Париж и стиль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8561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9825B"/>
                </a:solidFill>
                <a:latin typeface="Aptos"/>
              </a:rPr>
              <a:t>Гастрономия</a:t>
            </a:r>
            <a:endParaRPr sz="16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416052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кухня и традиции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8561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Литература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7720" y="416052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романы и поэзия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85615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Франкофония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416052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французский за пределами Франции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B48"/>
                </a:solidFill>
                <a:latin typeface="Aptos"/>
              </a:rPr>
              <a:t>Задание: назовите ещё одну ассоциацию к каждому направлению.</a:t>
            </a:r>
            <a:endParaRPr sz="16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2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2. Где французский язык встречается сегодня?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4533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Кино и сериалы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французская и франкоязычная кинопродукция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4533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Музыка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поп, рэп, электронная музыка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6A542"/>
                </a:solidFill>
                <a:latin typeface="Aptos"/>
              </a:rPr>
              <a:t>Мода и дизайн</a:t>
            </a:r>
            <a:endParaRPr sz="1600" b="1">
              <a:solidFill>
                <a:srgbClr val="D6A54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Париж как заметный центр моды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28346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96265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9825B"/>
                </a:solidFill>
                <a:latin typeface="Aptos"/>
              </a:rPr>
              <a:t>Цифровая среда</a:t>
            </a:r>
            <a:endParaRPr sz="16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блоги, игры, соцсети и контент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7997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Образование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изучение языка и международное общение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55080" y="42519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79976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Туризм и кухня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путешествия, гастрономия и сервис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02B48"/>
                </a:solidFill>
                <a:latin typeface="Aptos"/>
              </a:rPr>
              <a:t>Вопрос: какое направление сильнее всего влияет на ваш интерес к французскому?</a:t>
            </a:r>
            <a:endParaRPr sz="17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3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3. Мини-викторина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65BA6"/>
                </a:solidFill>
                <a:latin typeface="Aptos"/>
              </a:rPr>
              <a:t>Выберите вариант</a:t>
            </a:r>
            <a:endParaRPr sz="1300" b="0">
              <a:solidFill>
                <a:srgbClr val="365B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1. Как называется франкоязычное культурно-языковое пространство?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78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A) Франкофония   B) Еврозона   C) Латиния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2. Какой город традиционно связывают с высокой модой?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78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A) Лион   B) Париж   C) Бордо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3. Какой жанр заметен на современной франкоязычной музыкальной сцене?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378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A) Только опера   B) Рэп и хип-хоп   C) Только классика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23262D"/>
                </a:solidFill>
                <a:latin typeface="Aptos"/>
              </a:rPr>
              <a:t>Ответы обсудим на следующем слайде.</a:t>
            </a:r>
            <a:endParaRPr sz="15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4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4. Проверяем ответы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4533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9825B"/>
                </a:solidFill>
                <a:latin typeface="Aptos"/>
              </a:rPr>
              <a:t>1 — A: Франкофония</a:t>
            </a:r>
            <a:endParaRPr sz="16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058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Термин связан с французским языком и франкоязычным пространством.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283464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6265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9825B"/>
                </a:solidFill>
                <a:latin typeface="Aptos"/>
              </a:rPr>
              <a:t>2 — B: Париж</a:t>
            </a:r>
            <a:endParaRPr sz="16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10058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Париж широко известен как один из центров мировой моды.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425196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7997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9825B"/>
                </a:solidFill>
                <a:latin typeface="Aptos"/>
              </a:rPr>
              <a:t>3 — B: Рэп и хип-хоп</a:t>
            </a:r>
            <a:endParaRPr sz="16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10058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Современная франкоязычная сцена включает множество жанров.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5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5. Облако слов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65BA6"/>
                </a:solidFill>
                <a:latin typeface="Aptos"/>
              </a:rPr>
              <a:t>Какие слова лучше всего описывают современную франкоязычную культуру?</a:t>
            </a:r>
            <a:endParaRPr sz="1300" b="0">
              <a:solidFill>
                <a:srgbClr val="365BA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BE3041"/>
                </a:solidFill>
                <a:latin typeface="Aptos"/>
              </a:rPr>
              <a:t>PARIS</a:t>
            </a:r>
            <a:endParaRPr sz="32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365BA6"/>
                </a:solidFill>
                <a:latin typeface="Aptos"/>
              </a:rPr>
              <a:t>MUSIQUE</a:t>
            </a:r>
            <a:endParaRPr sz="27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39825B"/>
                </a:solidFill>
                <a:latin typeface="Aptos"/>
              </a:rPr>
              <a:t>CINÉMA</a:t>
            </a:r>
            <a:endParaRPr sz="29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D6A542"/>
                </a:solidFill>
                <a:latin typeface="Aptos"/>
              </a:rPr>
              <a:t>MODE</a:t>
            </a:r>
            <a:endParaRPr sz="3000" b="1">
              <a:solidFill>
                <a:srgbClr val="D6A54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02B48"/>
                </a:solidFill>
                <a:latin typeface="Aptos"/>
              </a:rPr>
              <a:t>FRANCOPHONIE</a:t>
            </a:r>
            <a:endParaRPr sz="23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BE3041"/>
                </a:solidFill>
                <a:latin typeface="Aptos"/>
              </a:rPr>
              <a:t>ART</a:t>
            </a:r>
            <a:endParaRPr sz="28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65BA6"/>
                </a:solidFill>
                <a:latin typeface="Aptos"/>
              </a:rPr>
              <a:t>CUISINE</a:t>
            </a:r>
            <a:endParaRPr sz="23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9825B"/>
                </a:solidFill>
                <a:latin typeface="Aptos"/>
              </a:rPr>
              <a:t>LITTÉRATURE</a:t>
            </a:r>
            <a:endParaRPr sz="22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456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02B48"/>
                </a:solidFill>
                <a:latin typeface="Aptos"/>
              </a:rPr>
              <a:t>LANGUE</a:t>
            </a:r>
            <a:endParaRPr sz="30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6072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A542"/>
                </a:solidFill>
                <a:latin typeface="Aptos"/>
              </a:rPr>
              <a:t>CRÉATIVITÉ</a:t>
            </a:r>
            <a:endParaRPr sz="2400" b="1">
              <a:solidFill>
                <a:srgbClr val="D6A54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02B48"/>
                </a:solidFill>
                <a:latin typeface="Aptos"/>
              </a:rPr>
              <a:t>Выберите 3 слова и объясните их связь с французским языком.</a:t>
            </a:r>
            <a:endParaRPr sz="16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6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6. Задание на соответствие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65BA6"/>
                </a:solidFill>
                <a:latin typeface="Aptos"/>
              </a:rPr>
              <a:t>Соедините понятие и направление</a:t>
            </a:r>
            <a:endParaRPr sz="1300" b="0">
              <a:solidFill>
                <a:srgbClr val="365B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9961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1. Cinéma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9689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2. Mode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356616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9417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3. Gastronomie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91455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4. Musique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9961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A. кухня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246888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9689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B. музыка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356616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9417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C. кино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4663440"/>
            <a:ext cx="4297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791455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D. мода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26080" y="589788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825B"/>
                </a:solidFill>
                <a:latin typeface="Aptos"/>
              </a:rPr>
              <a:t>Ключ: 1–C   2–D   3–A   4–B</a:t>
            </a:r>
            <a:endParaRPr sz="18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7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7. Правда или миф?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9616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1.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Французский язык используется только во Франции.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2.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Современная франкоязычная культура включает кино, музыку и цифровой контент.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3419856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3.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922776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Франкофония связана только с Европой.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443984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4.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946904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Французский язык может быть языком международного общения.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9825B"/>
                </a:solidFill>
                <a:latin typeface="Aptos"/>
              </a:rPr>
              <a:t>Ключ: 1 — миф; 2 — правда; 3 — миф; 4 — правда.</a:t>
            </a:r>
            <a:endParaRPr sz="1500" b="1">
              <a:solidFill>
                <a:srgbClr val="39825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8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B48"/>
                </a:solidFill>
                <a:latin typeface="Aptos"/>
              </a:rPr>
              <a:t>8. Самостоятельное исследование</a:t>
            </a:r>
            <a:endParaRPr sz="2800" b="1">
              <a:solidFill>
                <a:srgbClr val="202B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65BA6"/>
                </a:solidFill>
                <a:latin typeface="Aptos"/>
              </a:rPr>
              <a:t>Перейдите по ссылке и найдите один материал о французской культуре</a:t>
            </a:r>
            <a:endParaRPr sz="1300" b="0">
              <a:solidFill>
                <a:srgbClr val="365BA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6492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91056"/>
            <a:ext cx="6126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TV5MONDE — Apprendre le français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6126479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Найдите материал, который можно использовать на уроке.</a:t>
            </a:r>
            <a:br>
              <a:rPr sz="1300" b="0">
                <a:solidFill>
                  <a:srgbClr val="23262D"/>
                </a:solidFill>
                <a:latin typeface="Aptos"/>
              </a:rPr>
            </a:br>
            <a:br>
              <a:rPr sz="1300" b="0">
                <a:solidFill>
                  <a:srgbClr val="23262D"/>
                </a:solidFill>
                <a:latin typeface="Aptos"/>
              </a:rPr>
            </a:br>
            <a:r>
              <a:t>Определите:</a:t>
            </a:r>
            <a:br/>
            <a:r>
              <a:t>1) тему;</a:t>
            </a:r>
            <a:br/>
            <a:r>
              <a:t>2) уровень учащихся;</a:t>
            </a:r>
            <a:br/>
            <a:r>
              <a:t>3) какое задание можно дать по материалу.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  <a:hlinkClick r:id="rId1"/>
              </a:rPr>
              <a:t>Открыть ресурс: apprendre.tv5monde.com</a:t>
            </a:r>
            <a:endParaRPr sz="1600" b="1">
              <a:solidFill>
                <a:srgbClr val="BE3041"/>
              </a:solidFill>
              <a:latin typeface="Aptos"/>
              <a:hlinkClick r:id="rId1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35240" y="1463040"/>
            <a:ext cx="3657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591056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Мини-задание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8119" y="1965960"/>
            <a:ext cx="3252470" cy="69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Работа в парах: за 2 минуты подготовьте</a:t>
            </a:r>
            <a:endParaRPr sz="1300" b="0">
              <a:solidFill>
                <a:srgbClr val="2326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рекомендацию ресурса для урока </a:t>
            </a:r>
            <a:endParaRPr sz="1300" b="0">
              <a:solidFill>
                <a:srgbClr val="23262D"/>
              </a:solidFill>
              <a:latin typeface="Aptos"/>
            </a:endParaRPr>
          </a:p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французского.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65BA6"/>
                </a:solidFill>
                <a:latin typeface="Aptos"/>
              </a:rPr>
              <a:t>Мухина Е.М. • 9</a:t>
            </a:r>
            <a:endParaRPr sz="900" b="0">
              <a:solidFill>
                <a:srgbClr val="365BA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9. Рефлексия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91056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3041"/>
                </a:solidFill>
                <a:latin typeface="Aptos"/>
              </a:rPr>
              <a:t>1</a:t>
            </a:r>
            <a:endParaRPr sz="1600" b="1">
              <a:solidFill>
                <a:srgbClr val="BE304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96696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Что нового я узнал(а)?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16936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5BA6"/>
                </a:solidFill>
                <a:latin typeface="Aptos"/>
              </a:rPr>
              <a:t>2</a:t>
            </a:r>
            <a:endParaRPr sz="1600" b="1">
              <a:solidFill>
                <a:srgbClr val="365BA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996696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Как французский язык связан с современной культурой?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42816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6A542"/>
                </a:solidFill>
                <a:latin typeface="Aptos"/>
              </a:rPr>
              <a:t>3</a:t>
            </a:r>
            <a:endParaRPr sz="1600" b="1">
              <a:solidFill>
                <a:srgbClr val="D6A54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996696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3262D"/>
                </a:solidFill>
                <a:latin typeface="Aptos"/>
              </a:rPr>
              <a:t>Какой ресурс я мог(ла) бы использовать для изучения языка?</a:t>
            </a:r>
            <a:endParaRPr sz="1300" b="0">
              <a:solidFill>
                <a:srgbClr val="2326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58064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E1E6F0"/>
                </a:solidFill>
                <a:latin typeface="Aptos"/>
              </a:rPr>
              <a:t>Финальный вопрос: язык — только предмет изучения или ещё и доступ к культуре?</a:t>
            </a:r>
            <a:endParaRPr sz="1700" b="1">
              <a:solidFill>
                <a:srgbClr val="E1E6F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644652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C3E6"/>
                </a:solidFill>
                <a:latin typeface="Aptos"/>
              </a:rPr>
              <a:t>Мухина Е.М.</a:t>
            </a:r>
            <a:endParaRPr sz="1000" b="0">
              <a:solidFill>
                <a:srgbClr val="B4C3E6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2833</Words>
  <Application>WPS Presentation</Application>
  <PresentationFormat>On-screen Show (4:3)</PresentationFormat>
  <Paragraphs>216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Французский язык в современной культуре</dc:title>
  <dc:creator>Мухина Е.М.</dc:creator>
  <dc:description>generated using python-pptx</dc:description>
  <cp:lastModifiedBy>Евгения Мухина  (ПОАФ(б)-51)</cp:lastModifiedBy>
  <cp:revision>3</cp:revision>
  <dcterms:created xsi:type="dcterms:W3CDTF">2013-01-27T09:14:00Z</dcterms:created>
  <dcterms:modified xsi:type="dcterms:W3CDTF">2026-09-23T13:42:28Z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5811F0218CA3490293FA450279A2C31D_13</vt:lpwstr>
  </property>
</Properties>
</file>